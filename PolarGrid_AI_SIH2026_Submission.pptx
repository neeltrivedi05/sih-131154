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3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3200">
                <a:solidFill>
                  <a:srgbClr val="193F78"/>
                </a:solidFill>
                <a:latin typeface="Georgia"/>
              </a:rPr>
              <a:t>SMART INDIA HACKATHON 2026
</a:t>
            </a:r>
          </a:p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b="1" sz="1800">
                <a:solidFill>
                  <a:srgbClr val="000000"/>
                </a:solidFill>
                <a:latin typeface="Arial"/>
              </a:rPr>
              <a:t>SIH26061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b="0" sz="1800">
                <a:solidFill>
                  <a:srgbClr val="000000"/>
                </a:solidFill>
                <a:latin typeface="Arial"/>
              </a:rPr>
              <a:t>AI-Driven Smart Energy Management System for Polar Research Stations.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Theme-</a:t>
            </a:r>
            <a:r>
              <a:rPr b="0" sz="1800">
                <a:solidFill>
                  <a:srgbClr val="000000"/>
                </a:solidFill>
                <a:latin typeface="Arial"/>
              </a:rPr>
              <a:t>Clean &amp; Green Technology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PS Category- </a:t>
            </a:r>
            <a:r>
              <a:rPr b="0" sz="1800">
                <a:solidFill>
                  <a:srgbClr val="000000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Target Organisation- </a:t>
            </a:r>
            <a:r>
              <a:rPr b="1" sz="1800">
                <a:solidFill>
                  <a:srgbClr val="000000"/>
                </a:solidFill>
                <a:latin typeface="Arial"/>
              </a:rPr>
              <a:t>Ministry of Earth Sciences (MoES) / NCPOR Goa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Team ID- </a:t>
            </a:r>
            <a:r>
              <a:rPr b="1" sz="1800">
                <a:solidFill>
                  <a:srgbClr val="000000"/>
                </a:solidFill>
                <a:latin typeface="Arial"/>
              </a:rPr>
              <a:t>[Your Team ID]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• Team Name - </a:t>
            </a:r>
            <a:r>
              <a:rPr b="1" sz="18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5760" y="18288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71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IDEA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858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500">
                <a:solidFill>
                  <a:srgbClr val="193F78"/>
                </a:solidFill>
              </a:rPr>
              <a:t>POLARGRID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5577840" cy="5212080"/>
          </a:xfrm>
          <a:prstGeom prst="roundRect">
            <a:avLst/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spcAft>
                <a:spcPts val="800"/>
              </a:spcAft>
            </a:pPr>
            <a:r>
              <a:rPr b="1" u="sng" sz="1700">
                <a:solidFill>
                  <a:srgbClr val="193F78"/>
                </a:solidFill>
              </a:rPr>
              <a:t>Proposed Solution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050">
                <a:solidFill>
                  <a:srgbClr val="000000"/>
                </a:solidFill>
              </a:rPr>
              <a:t>• Automated Station Data Collection: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Continuous telemetry ingest from Anemometers, Solar Pyranometers, Genset CTs, and BESS sensors [FastAPI Ingest; Modbus TCP Roadmap].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Sanity checks and state estimation [Kalman Filtering Roadmap] to handle extreme sensor frosting down to -50°C.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050">
                <a:solidFill>
                  <a:srgbClr val="000000"/>
                </a:solidFill>
              </a:rPr>
              <a:t>• Physics-Informed Digital Twin: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Station thermal dissipation and building heat-loss models [Assumed Empirical Parameterization].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Aerodynamic micro-wind turbine cut-in (3 m/s), rated power, and storm furling cut-out (25 m/s).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050">
                <a:solidFill>
                  <a:srgbClr val="000000"/>
                </a:solidFill>
              </a:rPr>
              <a:t>• Predictive Advisory Dispatch: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Rolling Ridge Regression forecasting 24h diurnal demand curves (Measured MAE: 1.75 kW vs 2.96 kW persistence).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Enforces anti-wet-stacking advisory floor keeping diesel gensets loaded at &gt;55% (66 kW clamp on assumed 120 kW genset).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050">
                <a:solidFill>
                  <a:srgbClr val="000000"/>
                </a:solidFill>
              </a:rPr>
              <a:t>• Three-Tier Critical Load Shedding: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Deterministic governor prioritizes Zone 1 Life Support (oxygen &amp; habitat heating) by shedding Zone 3 Science Compute.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b="1" sz="1050">
                <a:solidFill>
                  <a:srgbClr val="000000"/>
                </a:solidFill>
              </a:rPr>
              <a:t>• Real-Time Telemetry &amp; Alerting: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E293B"/>
                </a:solidFill>
              </a:rPr>
              <a:t>  Server-Sent Events (SSE) stream microgrid telemetry every 2s to station touchscreen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51560"/>
            <a:ext cx="5669280" cy="15544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spcAft>
                <a:spcPts val="400"/>
              </a:spcAft>
            </a:pPr>
            <a:r>
              <a:rPr b="1" u="sng" sz="1500">
                <a:solidFill>
                  <a:srgbClr val="193F78"/>
                </a:solidFill>
              </a:rPr>
              <a:t>Addressing the Problem</a:t>
            </a:r>
          </a:p>
          <a:p>
            <a:r>
              <a:rPr sz="950">
                <a:solidFill>
                  <a:srgbClr val="1E293B"/>
                </a:solidFill>
              </a:rPr>
              <a:t>The solution addresses polar station energy vulnerability at Maitri &amp; Bharati by deploying an air-gapped, physics-informed edge optimizer. It eliminates the 250,000 L annual Aviation Turbine Fuel (ATF-50) logistical bottleneck, stabilizes microgrids against violent katabatic wind shifts (0 to 35+ m/s), eliminates diesel wet-stacking, and secures 100% uninterrupted life support without relying on satellite internet.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697480"/>
            <a:ext cx="5669280" cy="2514600"/>
          </a:xfrm>
          <a:prstGeom prst="roundRect">
            <a:avLst/>
          </a:prstGeom>
          <a:solidFill>
            <a:srgbClr val="E8DAE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spcAft>
                <a:spcPts val="400"/>
              </a:spcAft>
            </a:pPr>
            <a:r>
              <a:rPr b="1" u="sng" sz="1500">
                <a:solidFill>
                  <a:srgbClr val="193F78"/>
                </a:solidFill>
              </a:rPr>
              <a:t>Unique Features &amp; Innovations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1. Zero-Cloud Local Autonomy: </a:t>
            </a:r>
            <a:r>
              <a:rPr sz="900">
                <a:solidFill>
                  <a:srgbClr val="1E293B"/>
                </a:solidFill>
              </a:rPr>
              <a:t>Runs locally on edge hardware with zero external API dependency; survives polar satellite blackouts.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2. Anti-Wet-Stacking Governor: </a:t>
            </a:r>
            <a:r>
              <a:rPr sz="900">
                <a:solidFill>
                  <a:srgbClr val="1E293B"/>
                </a:solidFill>
              </a:rPr>
              <a:t>Recommends &gt;55% load clamp on assumed 120 kW diesel genset (66 kW floor), mitigating wet-stacking.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3. Blizzard Storm Aerodynamic Furling: </a:t>
            </a:r>
            <a:r>
              <a:rPr sz="900">
                <a:solidFill>
                  <a:srgbClr val="1E293B"/>
                </a:solidFill>
              </a:rPr>
              <a:t>Cuts wind power to 0 kW above 25 m/s gale thresholds to model mechanical brake lock-out.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4. Dual-Zone Waste Heat Harvesting [Roadmap]: </a:t>
            </a:r>
            <a:r>
              <a:rPr sz="900">
                <a:solidFill>
                  <a:srgbClr val="1E293B"/>
                </a:solidFill>
              </a:rPr>
              <a:t>Models diesel engine coolant thermal energy recovery into habitat life-support heating.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5. Explainable Industrial Rule Matrix: </a:t>
            </a:r>
            <a:r>
              <a:rPr sz="900">
                <a:solidFill>
                  <a:srgbClr val="1E293B"/>
                </a:solidFill>
              </a:rPr>
              <a:t>Zero black-box hallucinations; transparent rule dispatch auditable by station engineers.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6. Advisory Policy Comparison: </a:t>
            </a:r>
            <a:r>
              <a:rPr sz="900">
                <a:solidFill>
                  <a:srgbClr val="1E293B"/>
                </a:solidFill>
              </a:rPr>
              <a:t>Reports 8%–16% simulated savings range vs rule-based heuristic baseline [SIMULATED, ASSUMED INPUTS].</a:t>
            </a:r>
          </a:p>
        </p:txBody>
      </p:sp>
      <p:pic>
        <p:nvPicPr>
          <p:cNvPr id="12" name="Picture 11" descr="icon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349240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608076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750">
                <a:solidFill>
                  <a:srgbClr val="193F78"/>
                </a:solidFill>
              </a:rPr>
              <a:t>POLARGRID
SOFTWARE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562356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79" y="530352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00000"/>
                </a:solidFill>
              </a:rPr>
              <a:t>WIND &amp; SOLAR kW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562356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00000"/>
                </a:solidFill>
              </a:rPr>
              <a:t>GENSET DIESEL 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943600"/>
            <a:ext cx="2011680" cy="256032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000000"/>
                </a:solidFill>
              </a:rPr>
              <a:t>HABITAT TEMP °C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46920" y="5623560"/>
            <a:ext cx="32004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5349240"/>
            <a:ext cx="777240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75520" y="6080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750">
                <a:solidFill>
                  <a:srgbClr val="27AE60"/>
                </a:solidFill>
              </a:rPr>
              <a:t>ZONE 1 LIFE SUPPORT
PROTECTED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5760" y="18288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71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u="sng" sz="1600">
                <a:solidFill>
                  <a:srgbClr val="193F78"/>
                </a:solidFill>
              </a:rPr>
              <a:t>Technology Stack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371600"/>
          <a:ext cx="411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</a:tblGrid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AI / ML Modeling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Python, scikit-learn (Ridge Regression, MAE 1.75 kW vs 2.96 kW persistence), NumPy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Microgrid Server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FastAPI (Async ASGI Engine), Uvicorn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Field Telemetry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FastAPI Telemetry Ingest (Modbus TCP &amp; RS-485 Roadmap)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Station Physics Engine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WMO &amp; NCPOR Polar Normals, 25 m/s Furling Cut-Out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Live Telemetry Stream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Server-Sent Events (SSE) 2.0s Push, JSON Protocol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Operator Dashboard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React 19, Vite, Recharts, Industrial Design System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Edge Target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Industrial IPC / Advantech / Pi 5 [Roadmap Target]</a:t>
                      </a:r>
                    </a:p>
                  </a:txBody>
                  <a:tcPr anchor="ctr"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75488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0000"/>
                </a:solidFill>
              </a:rPr>
              <a:t>Prototype link : 
</a:t>
            </a:r>
            <a:r>
              <a:rPr b="1" u="sng" sz="1600">
                <a:solidFill>
                  <a:srgbClr val="0066CC"/>
                </a:solidFill>
              </a:rPr>
              <a:t>Click me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000000"/>
                </a:solidFill>
              </a:rPr>
              <a:t>Video link : </a:t>
            </a:r>
            <a:r>
              <a:rPr b="1" u="sng" sz="1400">
                <a:solidFill>
                  <a:srgbClr val="0066CC"/>
                </a:solidFill>
              </a:rPr>
              <a:t>Click me</a:t>
            </a:r>
          </a:p>
          <a:p>
            <a:r>
              <a:rPr sz="950">
                <a:solidFill>
                  <a:srgbClr val="64748B"/>
                </a:solidFill>
              </a:rPr>
              <a:t>Local Running URL: http://localhost:8000 (Active Daemon)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051560"/>
            <a:ext cx="713232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50">
                <a:solidFill>
                  <a:srgbClr val="000000"/>
                </a:solidFill>
              </a:rPr>
              <a:t>NCPOR Station
Sensors Ingest</a:t>
            </a:r>
          </a:p>
        </p:txBody>
      </p:sp>
      <p:pic>
        <p:nvPicPr>
          <p:cNvPr id="13" name="Picture 12" descr="icon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18745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50">
                <a:solidFill>
                  <a:srgbClr val="000000"/>
                </a:solidFill>
              </a:rPr>
              <a:t>Continuous Telemetry
Collection</a:t>
            </a:r>
          </a:p>
        </p:txBody>
      </p:sp>
      <p:pic>
        <p:nvPicPr>
          <p:cNvPr id="15" name="Picture 14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23444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89520" y="18745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50">
                <a:solidFill>
                  <a:srgbClr val="000000"/>
                </a:solidFill>
              </a:rPr>
              <a:t>Physics Digital
Twin Engine</a:t>
            </a:r>
          </a:p>
        </p:txBody>
      </p:sp>
      <p:pic>
        <p:nvPicPr>
          <p:cNvPr id="17" name="Picture 16" descr="icon_optimi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23444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61120" y="18745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50">
                <a:solidFill>
                  <a:srgbClr val="000000"/>
                </a:solidFill>
              </a:rPr>
              <a:t>Advisory Merit
Dispatch</a:t>
            </a:r>
          </a:p>
        </p:txBody>
      </p:sp>
      <p:pic>
        <p:nvPicPr>
          <p:cNvPr id="19" name="Picture 18" descr="icon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1234440"/>
            <a:ext cx="594360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32720" y="1874519"/>
            <a:ext cx="1051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50">
                <a:solidFill>
                  <a:srgbClr val="000000"/>
                </a:solidFill>
              </a:rPr>
              <a:t>Safety Alerts &amp;
Interlocks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97880" y="1417320"/>
            <a:ext cx="2286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269480" y="1417320"/>
            <a:ext cx="2286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641080" y="1417320"/>
            <a:ext cx="2286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10012680" y="1417320"/>
            <a:ext cx="22860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ashboard_screen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468880"/>
            <a:ext cx="3749039" cy="1780794"/>
          </a:xfrm>
          <a:prstGeom prst="rect">
            <a:avLst/>
          </a:prstGeom>
        </p:spPr>
      </p:pic>
      <p:pic>
        <p:nvPicPr>
          <p:cNvPr id="26" name="Picture 25" descr="icon_gens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2468880"/>
            <a:ext cx="502920" cy="5029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372600" y="2514600"/>
            <a:ext cx="2331720" cy="411480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50">
                <a:solidFill>
                  <a:srgbClr val="000000"/>
                </a:solidFill>
              </a:rPr>
              <a:t>Genset 55% Floor (66 kW [ASSUMED])</a:t>
            </a:r>
          </a:p>
        </p:txBody>
      </p:sp>
      <p:pic>
        <p:nvPicPr>
          <p:cNvPr id="28" name="Picture 27" descr="icon_batte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3108960"/>
            <a:ext cx="502920" cy="5029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372600" y="3154680"/>
            <a:ext cx="2331720" cy="41148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50">
                <a:solidFill>
                  <a:srgbClr val="000000"/>
                </a:solidFill>
              </a:rPr>
              <a:t>Battery Storage BESS Buffer (25-90% SOC)</a:t>
            </a:r>
          </a:p>
        </p:txBody>
      </p:sp>
      <p:pic>
        <p:nvPicPr>
          <p:cNvPr id="30" name="Picture 29" descr="icon_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0" y="3749039"/>
            <a:ext cx="502920" cy="5029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372600" y="3794759"/>
            <a:ext cx="2331720" cy="411480"/>
          </a:xfrm>
          <a:prstGeom prst="roundRect">
            <a:avLst/>
          </a:prstGeom>
          <a:solidFill>
            <a:srgbClr val="E8DAE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50">
                <a:solidFill>
                  <a:srgbClr val="000000"/>
                </a:solidFill>
              </a:rPr>
              <a:t>Zone 1 Life-Support Priority Protection</a:t>
            </a:r>
          </a:p>
        </p:txBody>
      </p:sp>
      <p:pic>
        <p:nvPicPr>
          <p:cNvPr id="32" name="Picture 31" descr="icon_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8240" y="4389120"/>
            <a:ext cx="502920" cy="50292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372600" y="4434840"/>
            <a:ext cx="2331720" cy="411480"/>
          </a:xfrm>
          <a:prstGeom prst="roundRect">
            <a:avLst/>
          </a:prstGeom>
          <a:solidFill>
            <a:srgbClr val="D5F5E3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750">
                <a:solidFill>
                  <a:srgbClr val="000000"/>
                </a:solidFill>
              </a:rPr>
              <a:t>Station Audit Log [Roadmap: SQLite]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5074920"/>
            <a:ext cx="6766560" cy="105156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b="1" sz="950">
                <a:solidFill>
                  <a:srgbClr val="193F78"/>
                </a:solidFill>
              </a:rPr>
              <a:t>Advisory Dispatch &amp; Life Support Safety Architecture:
</a:t>
            </a:r>
            <a:r>
              <a:rPr sz="850">
                <a:solidFill>
                  <a:srgbClr val="1E293B"/>
                </a:solidFill>
              </a:rPr>
              <a:t>1. Sensor Telemetry Ingest (Temp, Wind, Solar, Battery SOC) ➔ 2. Anomaly Gate (Handles icing down to -50°C)
3. 24h Diurnal Load Forecaster (Ridge Regression ML) ➔ 4. Advisory Dispatch (Wind/Solar ➔ BESS ➔ Optimal Genset)
5. Priority Load Shedding Relay (Dynamic Zone 3 shedding ensures 100% Zone 1 Life-Support Protection).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5760" y="18288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71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51560"/>
            <a:ext cx="8138160" cy="2651760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spcAft>
                <a:spcPts val="400"/>
              </a:spcAft>
            </a:pPr>
            <a:r>
              <a:rPr b="1" u="sng" sz="1500">
                <a:solidFill>
                  <a:srgbClr val="000000"/>
                </a:solidFill>
              </a:rPr>
              <a:t>Feasibility: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0000"/>
                </a:solidFill>
              </a:rPr>
              <a:t>• Technical Feasibility:</a:t>
            </a:r>
          </a:p>
          <a:p>
            <a:r>
              <a:rPr sz="850">
                <a:solidFill>
                  <a:srgbClr val="1E293B"/>
                </a:solidFill>
              </a:rPr>
              <a:t>    ◦ Utilizes standard open software stack: Python 3.12, FastAPI, scikit-learn, and React 19 [Modbus TCP Roadmap].</a:t>
            </a:r>
          </a:p>
          <a:p>
            <a:r>
              <a:rPr sz="850">
                <a:solidFill>
                  <a:srgbClr val="1E293B"/>
                </a:solidFill>
              </a:rPr>
              <a:t>    ◦ Lightweight edge service designed for standard industrial edge PCs without requiring specialized GPU accelerators.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0000"/>
                </a:solidFill>
              </a:rPr>
              <a:t>• Environmental &amp; Polar Feasibility:</a:t>
            </a:r>
          </a:p>
          <a:p>
            <a:r>
              <a:rPr sz="850">
                <a:solidFill>
                  <a:srgbClr val="1E293B"/>
                </a:solidFill>
              </a:rPr>
              <a:t>    ◦ Calibrated for Antarctic extreme regimes (-50°C to +5°C, 150 km/h blizzards, 2-month polar night solar blackout).</a:t>
            </a:r>
          </a:p>
          <a:p>
            <a:r>
              <a:rPr sz="850">
                <a:solidFill>
                  <a:srgbClr val="1E293B"/>
                </a:solidFill>
              </a:rPr>
              <a:t>    ◦ Incorporates low-temperature battery charge management rules [Thermal Hysteresis Model Roadmap].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0000"/>
                </a:solidFill>
              </a:rPr>
              <a:t>• Operational &amp; Scalability Feasibility:</a:t>
            </a:r>
          </a:p>
          <a:p>
            <a:r>
              <a:rPr sz="850">
                <a:solidFill>
                  <a:srgbClr val="1E293B"/>
                </a:solidFill>
              </a:rPr>
              <a:t>    ◦ Calibrated for typical Antarctic station genset sizing (Assumed 120 kW rating, 55% clamp = 66 kW floor).</a:t>
            </a:r>
          </a:p>
          <a:p>
            <a:r>
              <a:rPr sz="850">
                <a:solidFill>
                  <a:srgbClr val="1E293B"/>
                </a:solidFill>
              </a:rPr>
              <a:t>    ◦ Modular microservices architecture allows adding more wind or solar capacity with zero codebase restructuring.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0000"/>
                </a:solidFill>
              </a:rPr>
              <a:t>• Overall Feasibility:</a:t>
            </a:r>
          </a:p>
          <a:p>
            <a:r>
              <a:rPr sz="850">
                <a:solidFill>
                  <a:srgbClr val="1E293B"/>
                </a:solidFill>
              </a:rPr>
              <a:t>    ◦ Operates locally on air-gapped station LAN with zero cloud, zero external API latency, and zero satellite dependency.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840480"/>
            <a:ext cx="3977639" cy="242316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spcAft>
                <a:spcPts val="400"/>
              </a:spcAft>
            </a:pPr>
            <a:r>
              <a:rPr b="1" u="sng" sz="1300">
                <a:solidFill>
                  <a:srgbClr val="000000"/>
                </a:solidFill>
              </a:rPr>
              <a:t>Potential Challenges and Risks: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Sensor Frost &amp; Blizzard Icing: </a:t>
            </a:r>
            <a:r>
              <a:rPr sz="800">
                <a:solidFill>
                  <a:srgbClr val="1E293B"/>
                </a:solidFill>
              </a:rPr>
              <a:t>Extreme cold causes anemometer and pyranometer dropout.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Sudden Winter Heating Spikes: </a:t>
            </a:r>
            <a:r>
              <a:rPr sz="800">
                <a:solidFill>
                  <a:srgbClr val="1E293B"/>
                </a:solidFill>
              </a:rPr>
              <a:t>Severe blizzards cause immediate heating load surge.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Sub-Zero Battery Capacity Fade: </a:t>
            </a:r>
            <a:r>
              <a:rPr sz="800">
                <a:solidFill>
                  <a:srgbClr val="1E293B"/>
                </a:solidFill>
              </a:rPr>
              <a:t>Lithium batteries lose effective capacity below -10°C.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Edge Controller Lockup / Crash: </a:t>
            </a:r>
            <a:r>
              <a:rPr sz="800">
                <a:solidFill>
                  <a:srgbClr val="1E293B"/>
                </a:solidFill>
              </a:rPr>
              <a:t>Software glitch could interrupt automated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840480"/>
            <a:ext cx="3977639" cy="242316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 rIns="182880"/>
          <a:lstStyle/>
          <a:p>
            <a:pPr algn="ctr">
              <a:spcAft>
                <a:spcPts val="400"/>
              </a:spcAft>
            </a:pPr>
            <a:r>
              <a:rPr b="1" u="sng" sz="1300">
                <a:solidFill>
                  <a:srgbClr val="000000"/>
                </a:solidFill>
              </a:rPr>
              <a:t>Strategies for Overcoming Challenges: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State Estimation [Roadmap: Kalman]: </a:t>
            </a:r>
            <a:r>
              <a:rPr sz="800">
                <a:solidFill>
                  <a:srgbClr val="1E293B"/>
                </a:solidFill>
              </a:rPr>
              <a:t>Replaces frozen sensors with thermodynamic rule-based defaults.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Priority Load Shedding Relay: </a:t>
            </a:r>
            <a:r>
              <a:rPr sz="800">
                <a:solidFill>
                  <a:srgbClr val="1E293B"/>
                </a:solidFill>
              </a:rPr>
              <a:t>Trips Zone 3 science compute to protect Zone 1 life support under severe deficit.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Exhaust Heat Scavenging [Roadmap]: </a:t>
            </a:r>
            <a:r>
              <a:rPr sz="800">
                <a:solidFill>
                  <a:srgbClr val="1E293B"/>
                </a:solidFill>
              </a:rPr>
              <a:t>Models diversion of genset waste coolant heat into battery enclosure (+15°C).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000000"/>
                </a:solidFill>
              </a:rPr>
              <a:t>• Hardware Watchdog &amp; Manual Bypass: </a:t>
            </a:r>
            <a:r>
              <a:rPr sz="800">
                <a:solidFill>
                  <a:srgbClr val="1E293B"/>
                </a:solidFill>
              </a:rPr>
              <a:t>Analog mechanical transfer switch allows instant human takeover.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051560"/>
            <a:ext cx="315468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engin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234440"/>
            <a:ext cx="502920" cy="5029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464040" y="1280160"/>
            <a:ext cx="2194560" cy="41148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Station Engineers</a:t>
            </a:r>
          </a:p>
        </p:txBody>
      </p:sp>
      <p:pic>
        <p:nvPicPr>
          <p:cNvPr id="14" name="Picture 13" descr="icon_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011680"/>
            <a:ext cx="502920" cy="502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464040" y="2057400"/>
            <a:ext cx="2194560" cy="411480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Continuous Monitoring</a:t>
            </a:r>
          </a:p>
        </p:txBody>
      </p:sp>
      <p:pic>
        <p:nvPicPr>
          <p:cNvPr id="16" name="Picture 15" descr="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788920"/>
            <a:ext cx="502920" cy="5029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464040" y="2834640"/>
            <a:ext cx="2194560" cy="411480"/>
          </a:xfrm>
          <a:prstGeom prst="roundRect">
            <a:avLst/>
          </a:prstGeom>
          <a:solidFill>
            <a:srgbClr val="FDEDE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Detect Deficit / Anomaly</a:t>
            </a:r>
          </a:p>
        </p:txBody>
      </p:sp>
      <p:pic>
        <p:nvPicPr>
          <p:cNvPr id="18" name="Picture 17" descr="icon_optimiz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3566160"/>
            <a:ext cx="502920" cy="5029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464040" y="3611880"/>
            <a:ext cx="2194560" cy="411480"/>
          </a:xfrm>
          <a:prstGeom prst="roundRect">
            <a:avLst/>
          </a:prstGeom>
          <a:solidFill>
            <a:srgbClr val="E8DAE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Merit-Order Dispatch</a:t>
            </a:r>
          </a:p>
        </p:txBody>
      </p:sp>
      <p:pic>
        <p:nvPicPr>
          <p:cNvPr id="20" name="Picture 19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4343400"/>
            <a:ext cx="502920" cy="5029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464040" y="4389120"/>
            <a:ext cx="2194560" cy="411480"/>
          </a:xfrm>
          <a:prstGeom prst="roundRect">
            <a:avLst/>
          </a:prstGeom>
          <a:solidFill>
            <a:srgbClr val="FADBD8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Deterministic Safety Gate</a:t>
            </a:r>
          </a:p>
        </p:txBody>
      </p:sp>
      <p:pic>
        <p:nvPicPr>
          <p:cNvPr id="22" name="Picture 21" descr="icon_gens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5120640"/>
            <a:ext cx="502920" cy="5029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464040" y="5166360"/>
            <a:ext cx="2194560" cy="41148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Manual Switchgear Override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561320" y="1783080"/>
            <a:ext cx="164592" cy="20116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10561320" y="2560320"/>
            <a:ext cx="164592" cy="20116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561320" y="3337560"/>
            <a:ext cx="164592" cy="20116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561320" y="4114800"/>
            <a:ext cx="164592" cy="20116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10561320" y="4892040"/>
            <a:ext cx="164592" cy="201168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5760" y="18288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71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51560"/>
            <a:ext cx="4023360" cy="2926080"/>
          </a:xfrm>
          <a:prstGeom prst="roundRect">
            <a:avLst/>
          </a:prstGeom>
          <a:solidFill>
            <a:srgbClr val="E8DAEF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</a:pPr>
            <a:r>
              <a:rPr b="1" u="sng" sz="1400">
                <a:solidFill>
                  <a:srgbClr val="193F78"/>
                </a:solidFill>
              </a:rPr>
              <a:t>Impact on Station Operations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Estimated 8% to 16% Fuel Savings Range: </a:t>
            </a:r>
            <a:r>
              <a:rPr sz="800">
                <a:solidFill>
                  <a:srgbClr val="1E293B"/>
                </a:solidFill>
              </a:rPr>
              <a:t>Simulated 18,000–38,000 L/yr saving range vs uncoordinated rule-based baseline [SIMULATED, ASSUMED INPUTS; 120kW genset, 55% clamp].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Enhanced Fuel Buffer Security: </a:t>
            </a:r>
            <a:r>
              <a:rPr sz="800">
                <a:solidFill>
                  <a:srgbClr val="1E293B"/>
                </a:solidFill>
              </a:rPr>
              <a:t>Reduces winter fuel draw rate, increasing operational margin against relief ship sea-ice lockouts.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Engine Health Preservation: </a:t>
            </a:r>
            <a:r>
              <a:rPr sz="800">
                <a:solidFill>
                  <a:srgbClr val="1E293B"/>
                </a:solidFill>
              </a:rPr>
              <a:t>Mitigates low-load wet-stacking soot accumulation by advising a 55% minimum genset loading floor.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Guaranteed Life Support Uptime: </a:t>
            </a:r>
            <a:r>
              <a:rPr sz="800">
                <a:solidFill>
                  <a:srgbClr val="1E293B"/>
                </a:solidFill>
              </a:rPr>
              <a:t>Deterministic priority shedding ensures uninterrupted power to habitat life-support heating and medical bay.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51560"/>
            <a:ext cx="3474720" cy="2926080"/>
          </a:xfrm>
          <a:prstGeom prst="roundRect">
            <a:avLst/>
          </a:prstGeom>
          <a:solidFill>
            <a:srgbClr val="D6EA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/>
          <a:lstStyle/>
          <a:p>
            <a:pPr algn="ctr">
              <a:spcAft>
                <a:spcPts val="600"/>
              </a:spcAft>
            </a:pPr>
            <a:r>
              <a:rPr b="1" u="sng" sz="1400">
                <a:solidFill>
                  <a:srgbClr val="193F78"/>
                </a:solidFill>
              </a:rPr>
              <a:t>Impact on Environment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Reduced Emissions Profile: </a:t>
            </a:r>
            <a:r>
              <a:rPr sz="800">
                <a:solidFill>
                  <a:srgbClr val="1E293B"/>
                </a:solidFill>
              </a:rPr>
              <a:t>Direct reduction in fuel burn reduces local emissions in pristine polar habitat [Proportional to fuel abatement].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Madrid Protocol Alignment: </a:t>
            </a:r>
            <a:r>
              <a:rPr sz="800">
                <a:solidFill>
                  <a:srgbClr val="1E293B"/>
                </a:solidFill>
              </a:rPr>
              <a:t>Supports environmental protection goals of the Antarctic Treaty (Annex III on waste minimization).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Reduced Sea-Ice Transit Risk: </a:t>
            </a:r>
            <a:r>
              <a:rPr sz="800">
                <a:solidFill>
                  <a:srgbClr val="1E293B"/>
                </a:solidFill>
              </a:rPr>
              <a:t>Lower seasonal fuel volume requirement minimizes hazardous fuel-bladder transport events.</a:t>
            </a:r>
          </a:p>
          <a:p>
            <a:pPr>
              <a:spcAft>
                <a:spcPts val="300"/>
              </a:spcAft>
            </a:pPr>
            <a:r>
              <a:rPr b="1" sz="850">
                <a:solidFill>
                  <a:srgbClr val="000000"/>
                </a:solidFill>
              </a:rPr>
              <a:t>• Soot Deposition Reduction: </a:t>
            </a:r>
            <a:r>
              <a:rPr sz="800">
                <a:solidFill>
                  <a:srgbClr val="1E293B"/>
                </a:solidFill>
              </a:rPr>
              <a:t>Optimized combustion reduces black carbon particulate dispersion onto snow cover.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60520"/>
            <a:ext cx="7680960" cy="2103120"/>
          </a:xfrm>
          <a:prstGeom prst="roundRect">
            <a:avLst/>
          </a:prstGeom>
          <a:solidFill>
            <a:srgbClr val="D4EFD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 rIns="228600"/>
          <a:lstStyle/>
          <a:p>
            <a:pPr algn="ctr">
              <a:spcAft>
                <a:spcPts val="400"/>
              </a:spcAft>
            </a:pPr>
            <a:r>
              <a:rPr b="1" u="sng" sz="1500">
                <a:solidFill>
                  <a:srgbClr val="193F78"/>
                </a:solidFill>
              </a:rPr>
              <a:t>Overall Benefits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• Advisory Fuel Optimization: </a:t>
            </a:r>
            <a:r>
              <a:rPr sz="900">
                <a:solidFill>
                  <a:srgbClr val="1E293B"/>
                </a:solidFill>
              </a:rPr>
              <a:t>Real-time lookahead dispatch provides actionable schedule guidance vs reactive manual control [SIMULATED, ASSUMED INPUTS].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• Cost-Effective Deployment: </a:t>
            </a:r>
            <a:r>
              <a:rPr sz="900">
                <a:solidFill>
                  <a:srgbClr val="1E293B"/>
                </a:solidFill>
              </a:rPr>
              <a:t>Runs on standard open industrial edge hardware without requiring proprietary microgrid controller suites.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• Scalable Microgrid Architecture: </a:t>
            </a:r>
            <a:r>
              <a:rPr sz="900">
                <a:solidFill>
                  <a:srgbClr val="1E293B"/>
                </a:solidFill>
              </a:rPr>
              <a:t>Acts as an advisory energy management prototype compatible with planned Maitri II polar microgrid expansion.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0000"/>
                </a:solidFill>
              </a:rPr>
              <a:t>• Strategic Autonomy: </a:t>
            </a:r>
            <a:r>
              <a:rPr sz="900">
                <a:solidFill>
                  <a:srgbClr val="1E293B"/>
                </a:solidFill>
              </a:rPr>
              <a:t>Demonstrates robust offline microgrid intelligence for remote Indian Antarctic stations (Maitri &amp; Bharati).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51560"/>
            <a:ext cx="356616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097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u="sng" sz="1600">
                <a:solidFill>
                  <a:srgbClr val="193F78"/>
                </a:solidFill>
              </a:rPr>
              <a:t>Use Case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54480"/>
            <a:ext cx="2606040" cy="54864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Data Collection Phase
</a:t>
            </a:r>
            <a:r>
              <a:rPr sz="750">
                <a:solidFill>
                  <a:srgbClr val="1E293B"/>
                </a:solidFill>
              </a:rPr>
              <a:t>Anemometers • Pyranometers • Fuel CTs</a:t>
            </a:r>
          </a:p>
        </p:txBody>
      </p:sp>
      <p:pic>
        <p:nvPicPr>
          <p:cNvPr id="14" name="Picture 13" descr="icon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331720"/>
            <a:ext cx="548640" cy="548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52560" y="2331720"/>
            <a:ext cx="2606040" cy="548640"/>
          </a:xfrm>
          <a:prstGeom prst="roundRect">
            <a:avLst/>
          </a:prstGeom>
          <a:solidFill>
            <a:srgbClr val="E8DAE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Data Validation Phase
</a:t>
            </a:r>
            <a:r>
              <a:rPr sz="750">
                <a:solidFill>
                  <a:srgbClr val="1E293B"/>
                </a:solidFill>
              </a:rPr>
              <a:t>Range Bounds • [Roadmap: Kalman]</a:t>
            </a:r>
          </a:p>
        </p:txBody>
      </p:sp>
      <p:pic>
        <p:nvPicPr>
          <p:cNvPr id="16" name="Picture 15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3108960"/>
            <a:ext cx="548640" cy="5486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052560" y="3108960"/>
            <a:ext cx="2606040" cy="548640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Analysis &amp; Forecast Phase
</a:t>
            </a:r>
            <a:r>
              <a:rPr sz="750">
                <a:solidFill>
                  <a:srgbClr val="1E293B"/>
                </a:solidFill>
              </a:rPr>
              <a:t>Ridge ML Forecaster (MAE: 1.75 kW)</a:t>
            </a:r>
          </a:p>
        </p:txBody>
      </p:sp>
      <p:pic>
        <p:nvPicPr>
          <p:cNvPr id="18" name="Picture 17" descr="icon_optimi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886200"/>
            <a:ext cx="548640" cy="548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052560" y="3886200"/>
            <a:ext cx="2606040" cy="54864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Advisory Dispatch Phase
</a:t>
            </a:r>
            <a:r>
              <a:rPr sz="750">
                <a:solidFill>
                  <a:srgbClr val="1E293B"/>
                </a:solidFill>
              </a:rPr>
              <a:t>Renewables ➔ BESS ➔ Optimal Genset</a:t>
            </a:r>
          </a:p>
        </p:txBody>
      </p:sp>
      <p:pic>
        <p:nvPicPr>
          <p:cNvPr id="20" name="Picture 19" descr="icon_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052560" y="4663440"/>
            <a:ext cx="2606040" cy="548640"/>
          </a:xfrm>
          <a:prstGeom prst="roundRect">
            <a:avLst/>
          </a:prstGeom>
          <a:solidFill>
            <a:srgbClr val="FADBD8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Safety Interlocks &amp; Alerting
</a:t>
            </a:r>
            <a:r>
              <a:rPr sz="750">
                <a:solidFill>
                  <a:srgbClr val="1E293B"/>
                </a:solidFill>
              </a:rPr>
              <a:t>Relay Tripping (Z3/Z2) • Audio Alarms</a:t>
            </a:r>
          </a:p>
        </p:txBody>
      </p:sp>
      <p:pic>
        <p:nvPicPr>
          <p:cNvPr id="22" name="Picture 21" descr="icon_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5440680"/>
            <a:ext cx="548640" cy="5486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052560" y="5440680"/>
            <a:ext cx="2606040" cy="548640"/>
          </a:xfrm>
          <a:prstGeom prst="roundRect">
            <a:avLst/>
          </a:prstGeom>
          <a:solidFill>
            <a:srgbClr val="D5F5E3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Station Audit &amp; Logging
</a:t>
            </a:r>
            <a:r>
              <a:rPr sz="750">
                <a:solidFill>
                  <a:srgbClr val="1E293B"/>
                </a:solidFill>
              </a:rPr>
              <a:t>Local Telemetry Log • [Roadmap: SQLite]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64592"/>
            <a:ext cx="2194560" cy="1524465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5760" y="182880"/>
            <a:ext cx="164592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  <a:latin typeface="Arial"/>
              </a:rPr>
              <a:t>POLARGRID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37160"/>
            <a:ext cx="7589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2600">
                <a:solidFill>
                  <a:srgbClr val="000000"/>
                </a:solidFill>
                <a:latin typeface="Georgia"/>
              </a:rP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10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b="1" sz="130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76809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97280"/>
                <a:gridCol w="1737360"/>
                <a:gridCol w="1280160"/>
                <a:gridCol w="731520"/>
                <a:gridCol w="2286000"/>
              </a:tblGrid>
              <a:tr h="130302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Ref</a:t>
                      </a:r>
                    </a:p>
                    <a:p>
                      <a:r>
                        <a:t>.No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Author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Date</a:t>
                      </a:r>
                    </a:p>
                    <a:p>
                      <a:r>
                        <a:t>(Year)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000000"/>
                          </a:solidFill>
                        </a:defRPr>
                      </a:pPr>
                      <a:r>
                        <a:t>Important Findings</a:t>
                      </a:r>
                    </a:p>
                  </a:txBody>
                  <a:tcPr anchor="ctr">
                    <a:solidFill>
                      <a:srgbClr val="E8DAE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NCPOR / MoES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Energy Consumption &amp; Infrastructure Benchmark for Maitri Station.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MoES Polar Technical Report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Establishes base electrical demand (80-200 kW), 250,000 L annual ATF-50 logistics cost, and Maitri II green microgrid specifications.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MDPI Energies</a:t>
                      </a:r>
                    </a:p>
                    <a:p>
                      <a:r>
                        <a:t>(Schumann et al.)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Optimization of Hybrid Renewable Microgrids for Polar Research Stations.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Journal of Energies (Microgrids)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Demonstrates 21.4% diesel savings via dynamic merit-order dispatch and minimum 60% genset loading to prevent engine wet-stacking.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3030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World Met. Org.</a:t>
                      </a:r>
                    </a:p>
                    <a:p>
                      <a:r>
                        <a:t>(WMO / SCAR)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Katabatic Wind Profiles and Extreme Climatology at Schirmacher Oasis.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WMO Polar Climatology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Provides empirical Weibull wind shape parameters (k=2.1, c=9.2 m/s) and blizzard wind storm cut-out thresholds (25 m/s).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051560"/>
            <a:ext cx="3566160" cy="521208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_gen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234440"/>
            <a:ext cx="548640" cy="5486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52560" y="1234440"/>
            <a:ext cx="2606040" cy="54864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Aviation Fuel &amp; Intake
</a:t>
            </a:r>
            <a:r>
              <a:rPr sz="750">
                <a:solidFill>
                  <a:srgbClr val="1E293B"/>
                </a:solidFill>
              </a:rPr>
              <a:t>ATF-50 Sub-zero Logistics</a:t>
            </a:r>
          </a:p>
        </p:txBody>
      </p:sp>
      <p:pic>
        <p:nvPicPr>
          <p:cNvPr id="12" name="Picture 11" descr="icon_optimiz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011680"/>
            <a:ext cx="548640" cy="5486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52560" y="2011680"/>
            <a:ext cx="2606040" cy="548640"/>
          </a:xfrm>
          <a:prstGeom prst="roundRect">
            <a:avLst/>
          </a:prstGeom>
          <a:solidFill>
            <a:srgbClr val="E8DAEF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Advisory Merit Governor
</a:t>
            </a:r>
            <a:r>
              <a:rPr sz="750">
                <a:solidFill>
                  <a:srgbClr val="1E293B"/>
                </a:solidFill>
              </a:rPr>
              <a:t>&gt;55% Optimal Load Floor</a:t>
            </a:r>
          </a:p>
        </p:txBody>
      </p:sp>
      <p:pic>
        <p:nvPicPr>
          <p:cNvPr id="14" name="Picture 13" descr="icon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788920"/>
            <a:ext cx="548640" cy="548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52560" y="2788920"/>
            <a:ext cx="2606040" cy="548640"/>
          </a:xfrm>
          <a:prstGeom prst="roundRect">
            <a:avLst/>
          </a:prstGeom>
          <a:solidFill>
            <a:srgbClr val="FADBD8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Low-Load Danger Avoided
</a:t>
            </a:r>
            <a:r>
              <a:rPr sz="750">
                <a:solidFill>
                  <a:srgbClr val="1E293B"/>
                </a:solidFill>
              </a:rPr>
              <a:t>Mitigates Wet-Stacking Soot</a:t>
            </a:r>
          </a:p>
        </p:txBody>
      </p:sp>
      <p:pic>
        <p:nvPicPr>
          <p:cNvPr id="16" name="Picture 15" descr="icon_batte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566160"/>
            <a:ext cx="548640" cy="5486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052560" y="3566160"/>
            <a:ext cx="2606040" cy="548640"/>
          </a:xfrm>
          <a:prstGeom prst="roundRect">
            <a:avLst/>
          </a:prstGeom>
          <a:solidFill>
            <a:srgbClr val="D4EFD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Battery Storage BESS
</a:t>
            </a:r>
            <a:r>
              <a:rPr sz="750">
                <a:solidFill>
                  <a:srgbClr val="1E293B"/>
                </a:solidFill>
              </a:rPr>
              <a:t>Surplus Renewable Absorption</a:t>
            </a:r>
          </a:p>
        </p:txBody>
      </p:sp>
      <p:pic>
        <p:nvPicPr>
          <p:cNvPr id="18" name="Picture 17" descr="icon_telemet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343400"/>
            <a:ext cx="548640" cy="5486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052560" y="4343400"/>
            <a:ext cx="2606040" cy="548640"/>
          </a:xfrm>
          <a:prstGeom prst="roundRect">
            <a:avLst/>
          </a:prstGeom>
          <a:solidFill>
            <a:srgbClr val="D5F5E3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Exhaust Heat Recovery
</a:t>
            </a:r>
            <a:r>
              <a:rPr sz="750">
                <a:solidFill>
                  <a:srgbClr val="1E293B"/>
                </a:solidFill>
              </a:rPr>
              <a:t>[Roadmap: Coolant loop heats habitat]</a:t>
            </a:r>
          </a:p>
        </p:txBody>
      </p:sp>
      <p:pic>
        <p:nvPicPr>
          <p:cNvPr id="20" name="Picture 19" descr="icon_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5120640"/>
            <a:ext cx="548640" cy="5486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052560" y="5120640"/>
            <a:ext cx="2606040" cy="548640"/>
          </a:xfrm>
          <a:prstGeom prst="roundRect">
            <a:avLst/>
          </a:prstGeom>
          <a:solidFill>
            <a:srgbClr val="D6EAF8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850">
                <a:solidFill>
                  <a:srgbClr val="000000"/>
                </a:solidFill>
              </a:rPr>
              <a:t>100% Life Support Power
</a:t>
            </a:r>
            <a:r>
              <a:rPr sz="750">
                <a:solidFill>
                  <a:srgbClr val="1E293B"/>
                </a:solidFill>
              </a:rPr>
              <a:t>Guaranteed Habitat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