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635C9-16F3-4C96-8803-52167A2AD330}" v="1" dt="2026-09-29T20:04:23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 Trivedi" userId="396491e90be6204f" providerId="LiveId" clId="{BB4D8CB2-FA6D-4B10-883E-2175F9104301}"/>
    <pc:docChg chg="custSel modSld">
      <pc:chgData name="Neel Trivedi" userId="396491e90be6204f" providerId="LiveId" clId="{BB4D8CB2-FA6D-4B10-883E-2175F9104301}" dt="2026-09-30T05:07:21.877" v="45" actId="1076"/>
      <pc:docMkLst>
        <pc:docMk/>
      </pc:docMkLst>
      <pc:sldChg chg="addSp delSp modSp mod">
        <pc:chgData name="Neel Trivedi" userId="396491e90be6204f" providerId="LiveId" clId="{BB4D8CB2-FA6D-4B10-883E-2175F9104301}" dt="2026-09-30T05:07:21.877" v="45" actId="1076"/>
        <pc:sldMkLst>
          <pc:docMk/>
          <pc:sldMk cId="0" sldId="290"/>
        </pc:sldMkLst>
        <pc:picChg chg="del">
          <ac:chgData name="Neel Trivedi" userId="396491e90be6204f" providerId="LiveId" clId="{BB4D8CB2-FA6D-4B10-883E-2175F9104301}" dt="2026-09-30T05:07:07.511" v="41" actId="478"/>
          <ac:picMkLst>
            <pc:docMk/>
            <pc:sldMk cId="0" sldId="290"/>
            <ac:picMk id="5" creationId="{F6D8E3E9-D157-EBF7-156F-1E1B109EFB4B}"/>
          </ac:picMkLst>
        </pc:picChg>
        <pc:picChg chg="add mod">
          <ac:chgData name="Neel Trivedi" userId="396491e90be6204f" providerId="LiveId" clId="{BB4D8CB2-FA6D-4B10-883E-2175F9104301}" dt="2026-09-30T05:07:21.877" v="45" actId="1076"/>
          <ac:picMkLst>
            <pc:docMk/>
            <pc:sldMk cId="0" sldId="290"/>
            <ac:picMk id="11" creationId="{46C2BB87-A9B3-5341-2B5A-499FA40FFD93}"/>
          </ac:picMkLst>
        </pc:picChg>
      </pc:sldChg>
      <pc:sldChg chg="modSp mod">
        <pc:chgData name="Neel Trivedi" userId="396491e90be6204f" providerId="LiveId" clId="{BB4D8CB2-FA6D-4B10-883E-2175F9104301}" dt="2026-09-29T20:04:27.071" v="40" actId="20577"/>
        <pc:sldMkLst>
          <pc:docMk/>
          <pc:sldMk cId="0" sldId="291"/>
        </pc:sldMkLst>
        <pc:spChg chg="mod">
          <ac:chgData name="Neel Trivedi" userId="396491e90be6204f" providerId="LiveId" clId="{BB4D8CB2-FA6D-4B10-883E-2175F9104301}" dt="2026-09-29T20:04:27.071" v="40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16125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88" y="765193"/>
            <a:ext cx="1207702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000000"/>
                </a:solidFill>
                <a:latin typeface="Arial"/>
              </a:rPr>
              <a:t>SIH26061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0" dirty="0">
                <a:solidFill>
                  <a:srgbClr val="000000"/>
                </a:solidFill>
                <a:latin typeface="Arial"/>
              </a:rPr>
              <a:t>AI-Driven Smart Energy Management System for Polar Research Stations.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0" dirty="0">
                <a:solidFill>
                  <a:srgbClr val="000000"/>
                </a:solidFill>
                <a:latin typeface="Arial"/>
              </a:rPr>
              <a:t>Clean &amp; Green Technology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ID- 131154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– The Usual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Suspect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75224"/>
            <a:ext cx="12191999" cy="38277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4007" y="-34274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2454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57571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0F59E25C-F478-F966-29F5-CBC03CCC78CF}"/>
              </a:ext>
            </a:extLst>
          </p:cNvPr>
          <p:cNvSpPr/>
          <p:nvPr/>
        </p:nvSpPr>
        <p:spPr>
          <a:xfrm>
            <a:off x="365760" y="1051560"/>
            <a:ext cx="5577840" cy="5212080"/>
          </a:xfrm>
          <a:prstGeom prst="roundRect">
            <a:avLst/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800"/>
              </a:spcAft>
            </a:pPr>
            <a:r>
              <a:rPr sz="2000" b="1" u="sng" dirty="0">
                <a:solidFill>
                  <a:srgbClr val="193F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Station Data Collection:</a:t>
            </a:r>
            <a:endParaRPr lang="en-US" sz="13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telemetry ingest from Anemometers, Solar Pyranometers, Genset CTs, and BESS sensors via Modbus TCP.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Sanity checks and Kalman-filtered state estimation to handle extreme sensor frosting down to -50°C.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Digital Twin: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station thermal dissipation and heat-loss modeling across Arctic building envelopes.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Aerodynamic micro-wind turbine cut-in (3 m/s), rated power, and storm furling cut-out (25 m/s).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Dynamic Merit-Order Dispatch: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Ridge Regression forecasting 24h diurnal demand curves from real-time ambient temperature shifts.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Enforces anti-wet-stacking governor keeping diesel gensets loaded in the optimal 60-85% thermal sweet spot.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Three-Tier Critical Load Shedding: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governor prioritizes Zone 1 Life Support (oxygen &amp; habitat heating) by shedding Zone 3 Science Compute.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Telemetry &amp; Alerting:</a:t>
            </a:r>
          </a:p>
          <a:p>
            <a:pPr marL="171450" indent="-171450"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Server-Sent Events (SSE) stream microgrid telemetry every 2s to station touchscreen dashboards.</a:t>
            </a: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B830458C-EFB3-502F-7320-C2FD7FF68DC9}"/>
              </a:ext>
            </a:extLst>
          </p:cNvPr>
          <p:cNvSpPr/>
          <p:nvPr/>
        </p:nvSpPr>
        <p:spPr>
          <a:xfrm>
            <a:off x="6126480" y="1051560"/>
            <a:ext cx="5669280" cy="1554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spcAft>
                <a:spcPts val="400"/>
              </a:spcAft>
            </a:pPr>
            <a:r>
              <a:rPr sz="2000" b="1" u="sng" dirty="0">
                <a:solidFill>
                  <a:srgbClr val="193F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Problem</a:t>
            </a:r>
          </a:p>
          <a:p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addresses polar station energy vulnerability at Maitri &amp; Bharati by deploying an air-gapped, physics-informed edge optimizer. It eliminates the 250,000 L annual Aviation Turbine Fuel (ATF-50) logistical bottleneck, stabilizes microgrids against violent katabatic wind shifts (0 to 35+ m/s), eliminates diesel wet-stacking, and secures 100% uninterrupted life support without relying on satellite internet.</a:t>
            </a:r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3B581444-6E00-EE2D-2565-856CB4C3C431}"/>
              </a:ext>
            </a:extLst>
          </p:cNvPr>
          <p:cNvSpPr/>
          <p:nvPr/>
        </p:nvSpPr>
        <p:spPr>
          <a:xfrm>
            <a:off x="6126480" y="2697480"/>
            <a:ext cx="5669280" cy="2514600"/>
          </a:xfrm>
          <a:prstGeom prst="roundRect">
            <a:avLst/>
          </a:prstGeom>
          <a:solidFill>
            <a:srgbClr val="E8DAE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spcAft>
                <a:spcPts val="400"/>
              </a:spcAft>
            </a:pPr>
            <a:r>
              <a:rPr b="1" u="sng" dirty="0">
                <a:solidFill>
                  <a:srgbClr val="193F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Features &amp; Innovations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Zero-Cloud Air-Gapped Autonomy: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100% locally on industrial edge hardware; survives polar satellite blackouts.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Anti-Wet-Stacking Governor: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Enforces &gt;55% load factor on diesel gensets, preventing soot crystallization and engine failure.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Blizzard Storm Aerodynamic Furling: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Pre-emptively locks micro-wind turbines before 25 m/s gale thresholds prevent blade destruction.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Dual-Zone Waste Heat Harvesting: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Channels diesel engine coolant thermal energy directly into habitat life-support heating.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Explainable Industrial Rule Matrix: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black-box hallucinations; transparent rule dispatch auditable by station engineers.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Real-Time Cumulative Fuel Abatement: 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tracking of </a:t>
            </a:r>
            <a:r>
              <a:rPr sz="11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litres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saved, rupees preserved, and </a:t>
            </a:r>
            <a:r>
              <a:rPr sz="110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sz="11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CO₂ abated.</a:t>
            </a:r>
          </a:p>
        </p:txBody>
      </p:sp>
      <p:pic>
        <p:nvPicPr>
          <p:cNvPr id="8" name="Picture 7" descr="icon_ai.png">
            <a:extLst>
              <a:ext uri="{FF2B5EF4-FFF2-40B4-BE49-F238E27FC236}">
                <a16:creationId xmlns:a16="http://schemas.microsoft.com/office/drawing/2014/main" id="{46831F73-F152-0592-9E49-CF186F770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349240"/>
            <a:ext cx="777240" cy="777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076B4-212A-1DF4-D570-551EF92C4762}"/>
              </a:ext>
            </a:extLst>
          </p:cNvPr>
          <p:cNvSpPr txBox="1"/>
          <p:nvPr/>
        </p:nvSpPr>
        <p:spPr>
          <a:xfrm>
            <a:off x="5943600" y="6080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193F78"/>
                </a:solidFill>
              </a:rPr>
              <a:t>POLARGRID
SOFTWARE</a:t>
            </a:r>
          </a:p>
        </p:txBody>
      </p:sp>
      <p:sp>
        <p:nvSpPr>
          <p:cNvPr id="13" name="Right Arrow 13">
            <a:extLst>
              <a:ext uri="{FF2B5EF4-FFF2-40B4-BE49-F238E27FC236}">
                <a16:creationId xmlns:a16="http://schemas.microsoft.com/office/drawing/2014/main" id="{E1390146-9671-63B5-4975-8CE61C06C68B}"/>
              </a:ext>
            </a:extLst>
          </p:cNvPr>
          <p:cNvSpPr/>
          <p:nvPr/>
        </p:nvSpPr>
        <p:spPr>
          <a:xfrm>
            <a:off x="7040880" y="562356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2C339893-E9D7-81B5-73D4-B376FAE76D16}"/>
              </a:ext>
            </a:extLst>
          </p:cNvPr>
          <p:cNvSpPr/>
          <p:nvPr/>
        </p:nvSpPr>
        <p:spPr>
          <a:xfrm>
            <a:off x="7498079" y="530352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000000"/>
                </a:solidFill>
              </a:rPr>
              <a:t>WIND &amp; SOLAR kW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D49321B4-04B3-2749-4410-27A796C532C2}"/>
              </a:ext>
            </a:extLst>
          </p:cNvPr>
          <p:cNvSpPr/>
          <p:nvPr/>
        </p:nvSpPr>
        <p:spPr>
          <a:xfrm>
            <a:off x="7498079" y="562356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GENSET DIESEL CT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7B465907-3CE7-B68E-BCAD-E4F7C459D6C3}"/>
              </a:ext>
            </a:extLst>
          </p:cNvPr>
          <p:cNvSpPr/>
          <p:nvPr/>
        </p:nvSpPr>
        <p:spPr>
          <a:xfrm>
            <a:off x="7498079" y="594360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</a:rPr>
              <a:t>HABITAT TEMP °C</a:t>
            </a:r>
          </a:p>
        </p:txBody>
      </p:sp>
      <p:sp>
        <p:nvSpPr>
          <p:cNvPr id="17" name="Right Arrow 17">
            <a:extLst>
              <a:ext uri="{FF2B5EF4-FFF2-40B4-BE49-F238E27FC236}">
                <a16:creationId xmlns:a16="http://schemas.microsoft.com/office/drawing/2014/main" id="{01998CF5-2237-DAE4-6DF8-62E076A79CD3}"/>
              </a:ext>
            </a:extLst>
          </p:cNvPr>
          <p:cNvSpPr/>
          <p:nvPr/>
        </p:nvSpPr>
        <p:spPr>
          <a:xfrm>
            <a:off x="9646920" y="562356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con_shield.png">
            <a:extLst>
              <a:ext uri="{FF2B5EF4-FFF2-40B4-BE49-F238E27FC236}">
                <a16:creationId xmlns:a16="http://schemas.microsoft.com/office/drawing/2014/main" id="{A432F733-219F-59AA-3FE7-16297211B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5349240"/>
            <a:ext cx="777240" cy="7772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626C54-5112-5FE9-81E3-532C43F54CC8}"/>
              </a:ext>
            </a:extLst>
          </p:cNvPr>
          <p:cNvSpPr txBox="1"/>
          <p:nvPr/>
        </p:nvSpPr>
        <p:spPr>
          <a:xfrm>
            <a:off x="9875520" y="6080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7AE60"/>
                </a:solidFill>
              </a:rPr>
              <a:t>ZONE 1 LIFE SUPPORT
PROTECTED</a:t>
            </a:r>
          </a:p>
        </p:txBody>
      </p:sp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15C77267-CECD-E597-78C9-BC20C317D7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3390" y="135255"/>
            <a:ext cx="171021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Usual Suspects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D0D26D-9CBE-3547-3298-A0FF19F43B85}"/>
              </a:ext>
            </a:extLst>
          </p:cNvPr>
          <p:cNvSpPr txBox="1"/>
          <p:nvPr/>
        </p:nvSpPr>
        <p:spPr>
          <a:xfrm>
            <a:off x="329773" y="11565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rgbClr val="193F7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60ECF8-9F0A-A529-34C6-33296B8E9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38159"/>
              </p:ext>
            </p:extLst>
          </p:nvPr>
        </p:nvGraphicFramePr>
        <p:xfrm>
          <a:off x="365760" y="1622784"/>
          <a:ext cx="2824480" cy="343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AI / ML Modeling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Python, scikit-learn (Ridge Regression), NumPy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Microgrid Server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FastAPI (Async ASGI Engine), Uvicorn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Industrial Protocols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Modbus TCP, OPC-UA, RS-485 Serial CT Sensors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Station Physics Engine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WMO &amp; NCPOR Antarctic Climate </a:t>
                      </a:r>
                      <a:r>
                        <a:rPr dirty="0" err="1"/>
                        <a:t>Normals</a:t>
                      </a:r>
                      <a:r>
                        <a:rPr dirty="0"/>
                        <a:t>, Heat Loss Model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Live Telemetry Stream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Server-Sent Events (SSE) 2.0s Push, JSON Protocol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Operator Dashboard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Vanilla HTML5, CSS3 High-Contrast Dark Theme, Chart.js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Edge Hardware Target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 err="1"/>
                        <a:t>Fanless</a:t>
                      </a:r>
                      <a:r>
                        <a:rPr dirty="0"/>
                        <a:t> Industrial IPC / Advantech / Raspberry Pi 5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5FBEA7-9E7D-BB9C-FB24-5E2D0F7352AB}"/>
              </a:ext>
            </a:extLst>
          </p:cNvPr>
          <p:cNvSpPr txBox="1"/>
          <p:nvPr/>
        </p:nvSpPr>
        <p:spPr>
          <a:xfrm>
            <a:off x="329773" y="5417574"/>
            <a:ext cx="25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Prototype Link: Click 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31ADF-9161-BDF8-F117-F6E6ACC8FFAE}"/>
              </a:ext>
            </a:extLst>
          </p:cNvPr>
          <p:cNvSpPr txBox="1"/>
          <p:nvPr/>
        </p:nvSpPr>
        <p:spPr>
          <a:xfrm>
            <a:off x="325755" y="5754640"/>
            <a:ext cx="25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 Link: Click Me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2F6A7700-1EC1-5347-C929-6C1F655214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3390" y="135255"/>
            <a:ext cx="171021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Usual Suspects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C2BB87-A9B3-5341-2B5A-499FA40FF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467" y="1219280"/>
            <a:ext cx="8241080" cy="4980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48424"/>
            <a:ext cx="12191999" cy="40957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13800" y="6456511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48424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3390" y="135255"/>
            <a:ext cx="171021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Usual Suspects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B3073BBC-B758-07B1-0FAD-AF51091B8624}"/>
              </a:ext>
            </a:extLst>
          </p:cNvPr>
          <p:cNvSpPr/>
          <p:nvPr/>
        </p:nvSpPr>
        <p:spPr>
          <a:xfrm>
            <a:off x="365760" y="1051559"/>
            <a:ext cx="8138160" cy="2873497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spcAft>
                <a:spcPts val="400"/>
              </a:spcAft>
            </a:pPr>
            <a:r>
              <a:rPr sz="20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Feasibility:</a:t>
            </a:r>
          </a:p>
          <a:p>
            <a:pPr>
              <a:spcBef>
                <a:spcPts val="200"/>
              </a:spcBef>
            </a:pPr>
            <a:r>
              <a:rPr lang="en-US" sz="11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1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Utilizes proven industrial edge technologies: Python 3.12, </a:t>
            </a:r>
            <a:r>
              <a:rPr sz="115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and Modbus TCP.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Extremely low computational overhead: Consumes &lt;180MB RAM and &lt;5% CPU on </a:t>
            </a:r>
            <a:r>
              <a:rPr sz="1150" dirty="0" err="1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fanless</a:t>
            </a:r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industrial IPCs (zero GPU needed).</a:t>
            </a:r>
          </a:p>
          <a:p>
            <a:pPr>
              <a:spcBef>
                <a:spcPts val="200"/>
              </a:spcBef>
            </a:pPr>
            <a:r>
              <a:rPr sz="11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Environmental &amp; Polar Feasibility: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Engineered and calibrated for Antarctic extremes (-50°C to +5°C, 150 km/h blizzards, 2-month polar night solar blackout).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Incorporates thermal hysteresis models to prevent battery low-temperature charging damage below 0°C.</a:t>
            </a:r>
          </a:p>
          <a:p>
            <a:pPr>
              <a:spcBef>
                <a:spcPts val="200"/>
              </a:spcBef>
            </a:pPr>
            <a:r>
              <a:rPr sz="11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Operational &amp; Scalability Feasibility: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Directly retrofittable to Maitri's 62.5 kVA Kirloskar/Caterpillar gensets and planned Maitri II 2029 green microgrid.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Modular microservices architecture allows adding more wind or solar capacity with zero codebase restructuring.</a:t>
            </a:r>
          </a:p>
          <a:p>
            <a:pPr>
              <a:spcBef>
                <a:spcPts val="200"/>
              </a:spcBef>
            </a:pPr>
            <a:r>
              <a:rPr sz="11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Overall Feasibility:</a:t>
            </a:r>
          </a:p>
          <a:p>
            <a:r>
              <a:rPr sz="115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◦ 100% air-gapped; operates autonomously with zero cloud, zero external API latency, and zero satellite dependency.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0D2FB7A7-3225-84AD-55E7-5E9D97DA52EB}"/>
              </a:ext>
            </a:extLst>
          </p:cNvPr>
          <p:cNvSpPr/>
          <p:nvPr/>
        </p:nvSpPr>
        <p:spPr>
          <a:xfrm>
            <a:off x="350520" y="3997386"/>
            <a:ext cx="3977639" cy="242316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spcAft>
                <a:spcPts val="400"/>
              </a:spcAft>
            </a:pPr>
            <a:r>
              <a:rPr sz="1300" b="1" u="sng" dirty="0">
                <a:solidFill>
                  <a:srgbClr val="000000"/>
                </a:solidFill>
              </a:rPr>
              <a:t>Potential Challenges and Risks: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Sensor Frost &amp; Blizzard Icing: </a:t>
            </a:r>
            <a:r>
              <a:rPr sz="1150" dirty="0">
                <a:solidFill>
                  <a:srgbClr val="1E293B"/>
                </a:solidFill>
              </a:rPr>
              <a:t>Extreme cold causes anemometer and pyranometer dropout.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Sudden Winter Heating Spikes: </a:t>
            </a:r>
            <a:r>
              <a:rPr sz="1150" dirty="0">
                <a:solidFill>
                  <a:srgbClr val="1E293B"/>
                </a:solidFill>
              </a:rPr>
              <a:t>Severe blizzards cause immediate 40kW heating load surge.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Sub-Zero Battery Capacity Fade: </a:t>
            </a:r>
            <a:r>
              <a:rPr sz="1150" dirty="0">
                <a:solidFill>
                  <a:srgbClr val="1E293B"/>
                </a:solidFill>
              </a:rPr>
              <a:t>Lithium batteries lose 40% effective capacity below -10°C.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Edge Controller Lockup / Crash: </a:t>
            </a:r>
            <a:r>
              <a:rPr sz="1150" dirty="0">
                <a:solidFill>
                  <a:srgbClr val="1E293B"/>
                </a:solidFill>
              </a:rPr>
              <a:t>Software glitch could freeze automated switchgear.</a:t>
            </a: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43B32E70-17F9-E137-0C09-9828DA4D3A25}"/>
              </a:ext>
            </a:extLst>
          </p:cNvPr>
          <p:cNvSpPr/>
          <p:nvPr/>
        </p:nvSpPr>
        <p:spPr>
          <a:xfrm>
            <a:off x="4455159" y="4025264"/>
            <a:ext cx="3977639" cy="242316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spcAft>
                <a:spcPts val="400"/>
              </a:spcAft>
            </a:pPr>
            <a:r>
              <a:rPr sz="1300" b="1" u="sng" dirty="0">
                <a:solidFill>
                  <a:srgbClr val="000000"/>
                </a:solidFill>
              </a:rPr>
              <a:t>Strategies for Overcoming Challenges: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Kalman-Filtered State Estimator: </a:t>
            </a:r>
            <a:r>
              <a:rPr sz="1150" dirty="0">
                <a:solidFill>
                  <a:srgbClr val="1E293B"/>
                </a:solidFill>
              </a:rPr>
              <a:t>Replaces frozen sensors with physics thermodynamic estimates.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Sub-Second Priority Load Shedding: </a:t>
            </a:r>
            <a:r>
              <a:rPr sz="1150" dirty="0">
                <a:solidFill>
                  <a:srgbClr val="1E293B"/>
                </a:solidFill>
              </a:rPr>
              <a:t>Trips Zone 3 science compute within 200ms to protect Zone 1.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Exhaust Heat Recovery Jacket: </a:t>
            </a:r>
            <a:r>
              <a:rPr sz="1150" dirty="0">
                <a:solidFill>
                  <a:srgbClr val="1E293B"/>
                </a:solidFill>
              </a:rPr>
              <a:t>Diverts genset waste coolant heat into battery enclosure (+15°C).</a:t>
            </a:r>
          </a:p>
          <a:p>
            <a:pPr>
              <a:spcAft>
                <a:spcPts val="200"/>
              </a:spcAft>
            </a:pPr>
            <a:r>
              <a:rPr sz="1150" b="1" dirty="0">
                <a:solidFill>
                  <a:srgbClr val="000000"/>
                </a:solidFill>
              </a:rPr>
              <a:t>• Hardware Watchdog &amp; Manual Bypass: </a:t>
            </a:r>
            <a:r>
              <a:rPr sz="1150" dirty="0">
                <a:solidFill>
                  <a:srgbClr val="1E293B"/>
                </a:solidFill>
              </a:rPr>
              <a:t>Analog mechanical transfer switch allows instant human takeover.</a:t>
            </a:r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D25A2395-F7DB-6DB4-060E-AD63EEA40606}"/>
              </a:ext>
            </a:extLst>
          </p:cNvPr>
          <p:cNvSpPr/>
          <p:nvPr/>
        </p:nvSpPr>
        <p:spPr>
          <a:xfrm>
            <a:off x="8686800" y="1095375"/>
            <a:ext cx="315468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5A65D6-7B96-F3F9-BFB7-33F3344C9F4C}"/>
              </a:ext>
            </a:extLst>
          </p:cNvPr>
          <p:cNvSpPr txBox="1"/>
          <p:nvPr/>
        </p:nvSpPr>
        <p:spPr>
          <a:xfrm>
            <a:off x="3048000" y="32320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6E5E18C-C4FA-5C44-9A34-331A4940AA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66" r="8219"/>
          <a:stretch/>
        </p:blipFill>
        <p:spPr>
          <a:xfrm>
            <a:off x="8813800" y="1514168"/>
            <a:ext cx="2971800" cy="43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C8BE9CAB-8F64-57F3-BB6F-78A8672F6137}"/>
              </a:ext>
            </a:extLst>
          </p:cNvPr>
          <p:cNvSpPr/>
          <p:nvPr/>
        </p:nvSpPr>
        <p:spPr>
          <a:xfrm>
            <a:off x="365760" y="1051560"/>
            <a:ext cx="4023360" cy="2926080"/>
          </a:xfrm>
          <a:prstGeom prst="roundRect">
            <a:avLst/>
          </a:prstGeom>
          <a:solidFill>
            <a:srgbClr val="E8DAE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</a:pPr>
            <a:r>
              <a:rPr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Station Operations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35,000–48,000 L Fuel Saved Annually: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18% to 22% direct reduction in ATF-50 consumption via intelligent renewable peak harvesting.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Extended Emergency Autonomy: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+35 days of emergency winter fuel buffer against relief ship sea-ice lockouts.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Extended Overhaul Intervals: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low-load wet stacking, raising diesel overhaul cycles from 5,000 to 8,500 hours.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Guaranteed Life Support Uptime: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power disruptions to habitat heating, medical bay, and oxygen concentrators.</a:t>
            </a:r>
          </a:p>
        </p:txBody>
      </p:sp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B1805DF4-3D5E-6483-C1E0-0BF38F6259FE}"/>
              </a:ext>
            </a:extLst>
          </p:cNvPr>
          <p:cNvSpPr/>
          <p:nvPr/>
        </p:nvSpPr>
        <p:spPr>
          <a:xfrm>
            <a:off x="4572000" y="1051560"/>
            <a:ext cx="3474720" cy="2926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</a:pPr>
            <a:r>
              <a:rPr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Environment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95–130 </a:t>
            </a: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CO₂e</a:t>
            </a: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Abated: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annual greenhouse gas reduction in pristine polar environment.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Madrid Protocol Compliance: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Adheres to Environmental Protection to the Antarctic Treaty (Annex III).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Elimination of Sea-Ice Spills: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Fewer fuel bladder transfers across fissured ice reduces catastrophe risk.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Zero Glacial Soot Deposition: </a:t>
            </a:r>
            <a:r>
              <a:rPr sz="1200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Cuts toxic black carbon settling on polar ice sheets.</a:t>
            </a:r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7156841B-2440-483A-6283-89EA6EB7F81B}"/>
              </a:ext>
            </a:extLst>
          </p:cNvPr>
          <p:cNvSpPr/>
          <p:nvPr/>
        </p:nvSpPr>
        <p:spPr>
          <a:xfrm>
            <a:off x="365760" y="4160520"/>
            <a:ext cx="7680960" cy="2103120"/>
          </a:xfrm>
          <a:prstGeom prst="roundRect">
            <a:avLst/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spcAft>
                <a:spcPts val="400"/>
              </a:spcAft>
            </a:pPr>
            <a:r>
              <a:rPr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Benefits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Proactive Fuel Savings: 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predictive dispatch eliminates manual guesswork, saving ₹50L–₹80L in fuel logistics per station annually.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Cost-Effective Deployment: 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expensive proprietary SCADA hardware; runs on low-cost open industrial edge controllers (&lt;₹1.5 Lakhs).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Microgrid Architecture: 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 the plug-and-play energy management foundation for India's upcoming zero-emission base Maitri II (2029).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National &amp; Global Impact: 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Establishes Indian polar science as a global benchmark for clean, autonomous scientific habitat microgrid management.</a:t>
            </a:r>
          </a:p>
        </p:txBody>
      </p:sp>
      <p:sp>
        <p:nvSpPr>
          <p:cNvPr id="5" name="Rounded Rectangle 10">
            <a:extLst>
              <a:ext uri="{FF2B5EF4-FFF2-40B4-BE49-F238E27FC236}">
                <a16:creationId xmlns:a16="http://schemas.microsoft.com/office/drawing/2014/main" id="{3C1EDA17-3075-0B74-9AB9-CAB7324109F1}"/>
              </a:ext>
            </a:extLst>
          </p:cNvPr>
          <p:cNvSpPr/>
          <p:nvPr/>
        </p:nvSpPr>
        <p:spPr>
          <a:xfrm>
            <a:off x="8229600" y="1051560"/>
            <a:ext cx="356616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EB55F-99F4-2EF4-CFE1-A4FBB06EC6DF}"/>
              </a:ext>
            </a:extLst>
          </p:cNvPr>
          <p:cNvSpPr txBox="1"/>
          <p:nvPr/>
        </p:nvSpPr>
        <p:spPr>
          <a:xfrm>
            <a:off x="841248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u="sng">
                <a:solidFill>
                  <a:srgbClr val="193F78"/>
                </a:solidFill>
              </a:rPr>
              <a:t>Use Case Diagram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BB3D2AA-78A4-7EE5-936E-D3353684C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06" b="4810"/>
          <a:stretch/>
        </p:blipFill>
        <p:spPr>
          <a:xfrm>
            <a:off x="8618158" y="1513348"/>
            <a:ext cx="2789043" cy="4466654"/>
          </a:xfrm>
          <a:prstGeom prst="rect">
            <a:avLst/>
          </a:prstGeom>
        </p:spPr>
      </p:pic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1F88F541-C88E-E789-D573-82382F0330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3390" y="135255"/>
            <a:ext cx="171021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Usual Suspects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D86463-8D47-8D14-C8CC-8029875C1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20" y="225637"/>
            <a:ext cx="1743075" cy="8382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0CA645-A0B8-DD55-F037-7ACD76442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662704"/>
              </p:ext>
            </p:extLst>
          </p:nvPr>
        </p:nvGraphicFramePr>
        <p:xfrm>
          <a:off x="219841" y="1247353"/>
          <a:ext cx="7970430" cy="4937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6907">
                  <a:extLst>
                    <a:ext uri="{9D8B030D-6E8A-4147-A177-3AD203B41FA5}">
                      <a16:colId xmlns:a16="http://schemas.microsoft.com/office/drawing/2014/main" val="3388000113"/>
                    </a:ext>
                  </a:extLst>
                </a:gridCol>
                <a:gridCol w="1012723">
                  <a:extLst>
                    <a:ext uri="{9D8B030D-6E8A-4147-A177-3AD203B41FA5}">
                      <a16:colId xmlns:a16="http://schemas.microsoft.com/office/drawing/2014/main" val="3152665721"/>
                    </a:ext>
                  </a:extLst>
                </a:gridCol>
                <a:gridCol w="1956619">
                  <a:extLst>
                    <a:ext uri="{9D8B030D-6E8A-4147-A177-3AD203B41FA5}">
                      <a16:colId xmlns:a16="http://schemas.microsoft.com/office/drawing/2014/main" val="1280946021"/>
                    </a:ext>
                  </a:extLst>
                </a:gridCol>
                <a:gridCol w="1809136">
                  <a:extLst>
                    <a:ext uri="{9D8B030D-6E8A-4147-A177-3AD203B41FA5}">
                      <a16:colId xmlns:a16="http://schemas.microsoft.com/office/drawing/2014/main" val="2105392386"/>
                    </a:ext>
                  </a:extLst>
                </a:gridCol>
                <a:gridCol w="835742">
                  <a:extLst>
                    <a:ext uri="{9D8B030D-6E8A-4147-A177-3AD203B41FA5}">
                      <a16:colId xmlns:a16="http://schemas.microsoft.com/office/drawing/2014/main" val="3989066979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178140938"/>
                    </a:ext>
                  </a:extLst>
                </a:gridCol>
              </a:tblGrid>
              <a:tr h="29222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Ref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Date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Important 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216977"/>
                  </a:ext>
                </a:extLst>
              </a:tr>
              <a:tr h="1016033">
                <a:tc>
                  <a:txBody>
                    <a:bodyPr/>
                    <a:lstStyle/>
                    <a:p>
                      <a:r>
                        <a:rPr lang="en-US" sz="1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Babinec</a:t>
                      </a:r>
                      <a:r>
                        <a:rPr lang="en-US" sz="15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Techno-Economic Analysis of Renewable Energy at the South Pole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Renewable &amp; Sustainable Energy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Hybrid PV–wind–storage systems can reduce diesel dependence and improve remote-station economics.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603321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r>
                        <a:rPr lang="en-US" sz="15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Zuo</a:t>
                      </a:r>
                      <a:r>
                        <a:rPr lang="en-US" sz="15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Multi-Objective Scheduling for Antarctic Coastal Research Stations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JMSE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Optimization can jointly address reliability, cost and emissions under Antarctic conditions.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701661"/>
                  </a:ext>
                </a:extLst>
              </a:tr>
              <a:tr h="924232">
                <a:tc>
                  <a:txBody>
                    <a:bodyPr/>
                    <a:lstStyle/>
                    <a:p>
                      <a:r>
                        <a:rPr lang="en-US" sz="15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Zhang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Multi-Timescale Economic Dispatch for Antarctic Microgrids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Energy Conversion &amp;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Multi-timescale dispatch and storage modeling can address polar-night and temperature-dependent energy constraints.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922005"/>
                  </a:ext>
                </a:extLst>
              </a:tr>
            </a:tbl>
          </a:graphicData>
        </a:graphic>
      </p:graphicFrame>
      <p:pic>
        <p:nvPicPr>
          <p:cNvPr id="13" name="Picture 1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4523F388-185E-CF92-F7CB-30B0C884E6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311" r="57391" b="6879"/>
          <a:stretch/>
        </p:blipFill>
        <p:spPr>
          <a:xfrm>
            <a:off x="8829865" y="1202344"/>
            <a:ext cx="2152767" cy="512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7560</TotalTime>
  <Words>1249</Words>
  <Application>Microsoft Office PowerPoint</Application>
  <PresentationFormat>Widescreen</PresentationFormat>
  <Paragraphs>141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Courier New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Neel Trivedi</cp:lastModifiedBy>
  <cp:revision>150</cp:revision>
  <dcterms:created xsi:type="dcterms:W3CDTF">2013-12-12T18:46:50Z</dcterms:created>
  <dcterms:modified xsi:type="dcterms:W3CDTF">2026-09-30T05:07:28Z</dcterms:modified>
  <cp:category/>
</cp:coreProperties>
</file>